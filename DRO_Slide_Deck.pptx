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8229600" cy="452628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7680960" cy="798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0F4C81"/>
                </a:solidFill>
                <a:latin typeface="Calibri"/>
              </a:rPr>
              <a:t>DRO: Disaster Response Optimizer</a:t>
            </a:r>
            <a:endParaRPr sz="1300" b="0">
              <a:solidFill>
                <a:srgbClr val="1A1A2E"/>
              </a:solidFill>
              <a:latin typeface="Calibri"/>
            </a:endParaRPr>
          </a:p>
          <a:p>
            <a:pPr algn="ctr"/>
            <a:r>
              <a:rPr sz="1200" b="1">
                <a:solidFill>
                  <a:srgbClr val="00A896"/>
                </a:solidFill>
                <a:latin typeface="Calibri"/>
              </a:rPr>
              <a:t>Huynh Mai Linh Nguyen — SEA Quantathon 2026</a:t>
            </a:r>
            <a:endParaRPr sz="1200" b="1">
              <a:solidFill>
                <a:srgbClr val="00A896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7315200" cy="1398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• Web-based decision support for flood, storm, and landslide response in Vietnam &amp; Southeast Asia</a:t>
            </a:r>
            <a:endParaRPr sz="1300" b="0">
              <a:solidFill>
                <a:srgbClr val="1A1A2E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• Combines AI risk intelligence with quantum / quantum-inspired optimization</a:t>
            </a:r>
            <a:endParaRPr sz="1300" b="0">
              <a:solidFill>
                <a:srgbClr val="1A1A2E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• MVP demo: Central Vietnam scenario: Thừa Thiên Huế flood and landslide response simulation</a:t>
            </a:r>
            <a:endParaRPr sz="1300" b="0">
              <a:solidFill>
                <a:srgbClr val="1A1A2E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• Supports coordinators and drill exercises</a:t>
            </a:r>
            <a:r>
              <a:rPr lang="vi-VN" sz="1300" b="0">
                <a:solidFill>
                  <a:srgbClr val="1A1A2E"/>
                </a:solidFill>
                <a:latin typeface="Calibri"/>
              </a:rPr>
              <a:t>, </a:t>
            </a:r>
            <a:r>
              <a:rPr sz="1300" b="0">
                <a:solidFill>
                  <a:srgbClr val="1A1A2E"/>
                </a:solidFill>
                <a:latin typeface="Calibri"/>
              </a:rPr>
              <a:t>does not replace human command authority</a:t>
            </a:r>
            <a:endParaRPr sz="1300" b="0">
              <a:solidFill>
                <a:srgbClr val="1A1A2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Calibri"/>
              </a:rPr>
              <a:t>2</a:t>
            </a:r>
            <a:endParaRPr sz="17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46304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Problem</a:t>
            </a:r>
            <a:endParaRPr sz="24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7955279" cy="157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2E"/>
                </a:solidFill>
                <a:latin typeface="Calibri"/>
              </a:rPr>
              <a:t>• Typhoon floods and landslides strand communities across Thừa Thiên Huế province</a:t>
            </a:r>
            <a:endParaRPr sz="1400" b="0">
              <a:solidFill>
                <a:srgbClr val="1A1A2E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2E"/>
                </a:solidFill>
                <a:latin typeface="Calibri"/>
              </a:rPr>
              <a:t>• Limited rescue teams and hospital beds create hard trade-offs under road closures</a:t>
            </a:r>
            <a:endParaRPr sz="1400" b="0">
              <a:solidFill>
                <a:srgbClr val="1A1A2E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2E"/>
                </a:solidFill>
                <a:latin typeface="Calibri"/>
              </a:rPr>
              <a:t>• Manual prioritization slows high-risk case identification across Huế and surrounding districts</a:t>
            </a:r>
            <a:endParaRPr sz="1400" b="0">
              <a:solidFill>
                <a:srgbClr val="1A1A2E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2E"/>
                </a:solidFill>
                <a:latin typeface="Calibri"/>
              </a:rPr>
              <a:t>• Multi-team routing under constraints is combinatorially explosive at scale</a:t>
            </a:r>
            <a:endParaRPr sz="1400" b="0">
              <a:solidFill>
                <a:srgbClr val="1A1A2E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2E"/>
                </a:solidFill>
                <a:latin typeface="Calibri"/>
              </a:rPr>
              <a:t>• Southeast Asia needs tools tuned to local hazard patterns</a:t>
            </a:r>
            <a:r>
              <a:rPr lang="vi-VN" sz="1400" b="0">
                <a:solidFill>
                  <a:srgbClr val="1A1A2E"/>
                </a:solidFill>
                <a:latin typeface="Calibri"/>
              </a:rPr>
              <a:t>, </a:t>
            </a:r>
            <a:r>
              <a:rPr sz="1400" b="0">
                <a:solidFill>
                  <a:srgbClr val="1A1A2E"/>
                </a:solidFill>
                <a:latin typeface="Calibri"/>
              </a:rPr>
              <a:t>not generic urban templates</a:t>
            </a:r>
            <a:endParaRPr sz="1400" b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955279" y="475488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77D"/>
                </a:solidFill>
                <a:latin typeface="Calibri"/>
              </a:rPr>
              <a:t>2 / 10</a:t>
            </a:r>
            <a:endParaRPr sz="1000" b="0">
              <a:solidFill>
                <a:srgbClr val="5C677D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Calibri"/>
              </a:rPr>
              <a:t>3</a:t>
            </a:r>
            <a:endParaRPr sz="17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46304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Solution</a:t>
            </a:r>
            <a:endParaRPr sz="24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795527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2E"/>
                </a:solidFill>
                <a:latin typeface="Calibri"/>
              </a:rPr>
              <a:t>• DRO unifies risk scores, team capacity, and network conditions on one dashboard</a:t>
            </a:r>
            <a:endParaRPr sz="1400" b="0">
              <a:solidFill>
                <a:srgbClr val="1A1A2E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2E"/>
                </a:solidFill>
                <a:latin typeface="Calibri"/>
              </a:rPr>
              <a:t>• Outputs ranked victims, team assignments, and route suggestions for drill and ops use</a:t>
            </a:r>
            <a:endParaRPr sz="1400" b="0">
              <a:solidFill>
                <a:srgbClr val="1A1A2E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2E"/>
                </a:solidFill>
                <a:latin typeface="Calibri"/>
              </a:rPr>
              <a:t>• Interactive map with Thừa Thiên Huế simulated scenario when live feeds are unavailable</a:t>
            </a:r>
            <a:endParaRPr sz="1400" b="0">
              <a:solidFill>
                <a:srgbClr val="1A1A2E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2E"/>
                </a:solidFill>
                <a:latin typeface="Calibri"/>
              </a:rPr>
              <a:t>• Compare manual vs optimized plans side-by-side in simulation</a:t>
            </a:r>
            <a:endParaRPr sz="1400" b="0">
              <a:solidFill>
                <a:srgbClr val="1A1A2E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2E"/>
                </a:solidFill>
                <a:latin typeface="Calibri"/>
              </a:rPr>
              <a:t>• Themes: Health &amp; Well-being and Sustainable Cities (SDGs 3 &amp; 11)</a:t>
            </a:r>
            <a:endParaRPr sz="1400" b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955279" y="475488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77D"/>
                </a:solidFill>
                <a:latin typeface="Calibri"/>
              </a:rPr>
              <a:t>3 / 10</a:t>
            </a:r>
            <a:endParaRPr sz="1000" b="0">
              <a:solidFill>
                <a:srgbClr val="5C677D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Calibri"/>
              </a:rPr>
              <a:t>4</a:t>
            </a:r>
            <a:endParaRPr sz="17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46304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Why Quantum?</a:t>
            </a:r>
            <a:endParaRPr sz="24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795527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2E"/>
                </a:solidFill>
                <a:latin typeface="Calibri"/>
              </a:rPr>
              <a:t>• Assigning teams to victims/areas is binary combinatorial optimization</a:t>
            </a:r>
            <a:endParaRPr sz="1400" b="0">
              <a:solidFill>
                <a:srgbClr val="1A1A2E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2E"/>
                </a:solidFill>
                <a:latin typeface="Calibri"/>
              </a:rPr>
              <a:t>• As the number of victims, teams, hospitals, and road constraints grows, the search space expands exponentially, making this a strong fit for QUBO-style optimization</a:t>
            </a:r>
            <a:endParaRPr sz="1400" b="0">
              <a:solidFill>
                <a:srgbClr val="1A1A2E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2E"/>
                </a:solidFill>
                <a:latin typeface="Calibri"/>
              </a:rPr>
              <a:t>• QUBO encodes objectives and penalties in one energy landscape</a:t>
            </a:r>
            <a:endParaRPr sz="1400" b="0">
              <a:solidFill>
                <a:srgbClr val="1A1A2E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2E"/>
                </a:solidFill>
                <a:latin typeface="Calibri"/>
              </a:rPr>
              <a:t>• QAOA and quantum annealing explore solution space efficiently</a:t>
            </a:r>
            <a:endParaRPr sz="1400" b="0">
              <a:solidFill>
                <a:srgbClr val="1A1A2E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2E"/>
                </a:solidFill>
                <a:latin typeface="Calibri"/>
              </a:rPr>
              <a:t>• Quantum-inspired simulated annealing runs on standard hardware for demo deployment</a:t>
            </a:r>
            <a:endParaRPr sz="1400" b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955279" y="475488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77D"/>
                </a:solidFill>
                <a:latin typeface="Calibri"/>
              </a:rPr>
              <a:t>4 / 10</a:t>
            </a:r>
            <a:endParaRPr sz="1000" b="0">
              <a:solidFill>
                <a:srgbClr val="5C677D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Calibri"/>
              </a:rPr>
              <a:t>5</a:t>
            </a:r>
            <a:endParaRPr sz="17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46304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How It Improves the Solution</a:t>
            </a:r>
            <a:endParaRPr sz="24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795527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2E"/>
                </a:solidFill>
                <a:latin typeface="Calibri"/>
              </a:rPr>
              <a:t>• AI risk scoring ranks victims by injury, flood depth, isolation time, and demographics</a:t>
            </a:r>
            <a:endParaRPr sz="1400" b="0">
              <a:solidFill>
                <a:srgbClr val="1A1A2E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2E"/>
                </a:solidFill>
                <a:latin typeface="Calibri"/>
              </a:rPr>
              <a:t>• QUBO optimizer assigns teams to minimize weighted response time under capacity and road constraints</a:t>
            </a:r>
            <a:endParaRPr sz="1400" b="0">
              <a:solidFill>
                <a:srgbClr val="1A1A2E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2E"/>
                </a:solidFill>
                <a:latin typeface="Calibri"/>
              </a:rPr>
              <a:t>• Dashboard compares optimized plan vs greedy baseline — estimated response time improvement in simulation</a:t>
            </a:r>
            <a:endParaRPr sz="1400" b="0">
              <a:solidFill>
                <a:srgbClr val="1A1A2E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2E"/>
                </a:solidFill>
                <a:latin typeface="Calibri"/>
              </a:rPr>
              <a:t>• Explainable priority queue and heatmap help coordinators justify decisions under pressure</a:t>
            </a:r>
            <a:endParaRPr sz="1400" b="0">
              <a:solidFill>
                <a:srgbClr val="1A1A2E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2E"/>
                </a:solidFill>
                <a:latin typeface="Calibri"/>
              </a:rPr>
              <a:t>• NLP parses Vietnamese/English SOS reports into structured fields for faster intake</a:t>
            </a:r>
            <a:endParaRPr sz="1400" b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955279" y="475488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77D"/>
                </a:solidFill>
                <a:latin typeface="Calibri"/>
              </a:rPr>
              <a:t>5 / 10</a:t>
            </a:r>
            <a:endParaRPr sz="1000" b="0">
              <a:solidFill>
                <a:srgbClr val="5C677D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Calibri"/>
              </a:rPr>
              <a:t>6</a:t>
            </a:r>
            <a:endParaRPr sz="17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46304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System Architecture &amp; MVP Demo</a:t>
            </a:r>
            <a:endParaRPr sz="24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5120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• Pipeline: Scenario Data → AI Risk Scoring → QUBO Builder → Optimizer → Dashboard</a:t>
            </a:r>
            <a:endParaRPr sz="1300" b="0">
              <a:solidFill>
                <a:srgbClr val="1A1A2E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• Frontend: Streamlit + Pydeck map with Thừa Thiên Huế scenario pack (victims, teams, roads, hospitals)</a:t>
            </a:r>
            <a:endParaRPr sz="1300" b="0">
              <a:solidFill>
                <a:srgbClr val="1A1A2E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• Demo flow: load scenario → review risk heatmap → Run Optimizer → compare baseline vs optimized KPIs</a:t>
            </a:r>
            <a:endParaRPr sz="1300" b="0">
              <a:solidFill>
                <a:srgbClr val="1A1A2E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• Solvers: quantum-inspired simulated annealing (MVP), QAOA, or D-Wave quantum annealing</a:t>
            </a:r>
            <a:endParaRPr sz="1300" b="0">
              <a:solidFill>
                <a:srgbClr val="1A1A2E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• Extensible to additional Central Vietnam provinces as the scenario library grows</a:t>
            </a:r>
            <a:endParaRPr sz="1300" b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806440" y="1097280"/>
            <a:ext cx="2834640" cy="356616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0F4C81"/>
                </a:solidFill>
                <a:latin typeface="Calibri"/>
              </a:rPr>
              <a:t>Architecture: Scenario Data → AI Risk Scoring → QUBO Builder → Optimizer → Dashboard</a:t>
            </a:r>
            <a:endParaRPr sz="1100" b="0">
              <a:solidFill>
                <a:srgbClr val="0F4C81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955279" y="475488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77D"/>
                </a:solidFill>
                <a:latin typeface="Calibri"/>
              </a:rPr>
              <a:t>6 / 10</a:t>
            </a:r>
            <a:endParaRPr sz="1000" b="0">
              <a:solidFill>
                <a:srgbClr val="5C677D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Calibri"/>
              </a:rPr>
              <a:t>7</a:t>
            </a:r>
            <a:endParaRPr sz="17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46304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Roadmap Year 1 (Months 1–12)</a:t>
            </a:r>
            <a:endParaRPr sz="24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14350" y="1051560"/>
            <a:ext cx="3977639" cy="2477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0F4C81"/>
                </a:solidFill>
                <a:latin typeface="Calibri"/>
              </a:rPr>
              <a:t>M1: </a:t>
            </a:r>
            <a:r>
              <a:rPr sz="1200" b="0">
                <a:solidFill>
                  <a:srgbClr val="1A1A2E"/>
                </a:solidFill>
                <a:latin typeface="Calibri"/>
              </a:rPr>
              <a:t>Core data model; Thừa Thiên Huế scenario pack; simulated victims/teams/roads</a:t>
            </a:r>
            <a:endParaRPr sz="1200" b="0">
              <a:solidFill>
                <a:srgbClr val="1A1A2E"/>
              </a:solidFill>
              <a:latin typeface="Calibri"/>
            </a:endParaRP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0F4C81"/>
                </a:solidFill>
                <a:latin typeface="Calibri"/>
              </a:rPr>
              <a:t>M2: </a:t>
            </a:r>
            <a:r>
              <a:rPr sz="1200" b="0">
                <a:solidFill>
                  <a:srgbClr val="1A1A2E"/>
                </a:solidFill>
                <a:latin typeface="Calibri"/>
              </a:rPr>
              <a:t>AI risk scoring MVP; priority queue and heatmap output</a:t>
            </a:r>
            <a:endParaRPr sz="1200" b="0">
              <a:solidFill>
                <a:srgbClr val="1A1A2E"/>
              </a:solidFill>
              <a:latin typeface="Calibri"/>
            </a:endParaRP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0F4C81"/>
                </a:solidFill>
                <a:latin typeface="Calibri"/>
              </a:rPr>
              <a:t>M3: </a:t>
            </a:r>
            <a:r>
              <a:rPr sz="1200" b="0">
                <a:solidFill>
                  <a:srgbClr val="1A1A2E"/>
                </a:solidFill>
                <a:latin typeface="Calibri"/>
              </a:rPr>
              <a:t>QUBO formulation; quantum-inspired annealing; greedy baseline benchmark</a:t>
            </a:r>
            <a:endParaRPr sz="1200" b="0">
              <a:solidFill>
                <a:srgbClr val="1A1A2E"/>
              </a:solidFill>
              <a:latin typeface="Calibri"/>
            </a:endParaRP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0F4C81"/>
                </a:solidFill>
                <a:latin typeface="Calibri"/>
              </a:rPr>
              <a:t>M4: </a:t>
            </a:r>
            <a:r>
              <a:rPr sz="1200" b="0">
                <a:solidFill>
                  <a:srgbClr val="1A1A2E"/>
                </a:solidFill>
                <a:latin typeface="Calibri"/>
              </a:rPr>
              <a:t>Streamlit dashboard shell; Pydeck map layer</a:t>
            </a:r>
            <a:endParaRPr sz="1200" b="0">
              <a:solidFill>
                <a:srgbClr val="1A1A2E"/>
              </a:solidFill>
              <a:latin typeface="Calibri"/>
            </a:endParaRP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0F4C81"/>
                </a:solidFill>
                <a:latin typeface="Calibri"/>
              </a:rPr>
              <a:t>M5: </a:t>
            </a:r>
            <a:r>
              <a:rPr sz="1200" b="0">
                <a:solidFill>
                  <a:srgbClr val="1A1A2E"/>
                </a:solidFill>
                <a:latin typeface="Calibri"/>
              </a:rPr>
              <a:t>Thừa Thiên Huế scenario wired to dashboard; KPI cards</a:t>
            </a:r>
            <a:endParaRPr sz="1200" b="0">
              <a:solidFill>
                <a:srgbClr val="1A1A2E"/>
              </a:solidFill>
              <a:latin typeface="Calibri"/>
            </a:endParaRP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0F4C81"/>
                </a:solidFill>
                <a:latin typeface="Calibri"/>
              </a:rPr>
              <a:t>M6: </a:t>
            </a:r>
            <a:r>
              <a:rPr sz="1200" b="0">
                <a:solidFill>
                  <a:srgbClr val="1A1A2E"/>
                </a:solidFill>
                <a:latin typeface="Calibri"/>
              </a:rPr>
              <a:t>Pilot testing with university drill exercises; UX refinements</a:t>
            </a:r>
            <a:endParaRPr sz="1200" b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00599" y="1051560"/>
            <a:ext cx="3977639" cy="2284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0F4C81"/>
                </a:solidFill>
                <a:latin typeface="Calibri"/>
              </a:rPr>
              <a:t>M7: </a:t>
            </a:r>
            <a:r>
              <a:rPr sz="1200" b="0">
                <a:solidFill>
                  <a:srgbClr val="1A1A2E"/>
                </a:solidFill>
                <a:latin typeface="Calibri"/>
              </a:rPr>
              <a:t>FastAPI backend; scenario and optimization API endpoints</a:t>
            </a:r>
            <a:endParaRPr sz="1200" b="0">
              <a:solidFill>
                <a:srgbClr val="1A1A2E"/>
              </a:solidFill>
              <a:latin typeface="Calibri"/>
            </a:endParaRP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0F4C81"/>
                </a:solidFill>
                <a:latin typeface="Calibri"/>
              </a:rPr>
              <a:t>M8: </a:t>
            </a:r>
            <a:r>
              <a:rPr sz="1200" b="0">
                <a:solidFill>
                  <a:srgbClr val="1A1A2E"/>
                </a:solidFill>
                <a:latin typeface="Calibri"/>
              </a:rPr>
              <a:t>Government/hydrology API integration prototypes</a:t>
            </a:r>
            <a:endParaRPr sz="1200" b="0">
              <a:solidFill>
                <a:srgbClr val="1A1A2E"/>
              </a:solidFill>
              <a:latin typeface="Calibri"/>
            </a:endParaRP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0F4C81"/>
                </a:solidFill>
                <a:latin typeface="Calibri"/>
              </a:rPr>
              <a:t>M9: </a:t>
            </a:r>
            <a:r>
              <a:rPr sz="1200" b="0">
                <a:solidFill>
                  <a:srgbClr val="1A1A2E"/>
                </a:solidFill>
                <a:latin typeface="Calibri"/>
              </a:rPr>
              <a:t>NLP pipeline for Vietnamese/English SOS classification</a:t>
            </a:r>
            <a:endParaRPr sz="1200" b="0">
              <a:solidFill>
                <a:srgbClr val="1A1A2E"/>
              </a:solidFill>
              <a:latin typeface="Calibri"/>
            </a:endParaRP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0F4C81"/>
                </a:solidFill>
                <a:latin typeface="Calibri"/>
              </a:rPr>
              <a:t>M10: </a:t>
            </a:r>
            <a:r>
              <a:rPr sz="1200" b="0">
                <a:solidFill>
                  <a:srgbClr val="1A1A2E"/>
                </a:solidFill>
                <a:latin typeface="Calibri"/>
              </a:rPr>
              <a:t>Performance tuning; solver benchmarking (annealing vs greedy)</a:t>
            </a:r>
            <a:endParaRPr sz="1200" b="0">
              <a:solidFill>
                <a:srgbClr val="1A1A2E"/>
              </a:solidFill>
              <a:latin typeface="Calibri"/>
            </a:endParaRP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0F4C81"/>
                </a:solidFill>
                <a:latin typeface="Calibri"/>
              </a:rPr>
              <a:t>M11: </a:t>
            </a:r>
            <a:r>
              <a:rPr sz="1200" b="0">
                <a:solidFill>
                  <a:srgbClr val="1A1A2E"/>
                </a:solidFill>
                <a:latin typeface="Calibri"/>
              </a:rPr>
              <a:t>Second Central Vietnam scenario added to library</a:t>
            </a:r>
            <a:endParaRPr sz="1200" b="0">
              <a:solidFill>
                <a:srgbClr val="1A1A2E"/>
              </a:solidFill>
              <a:latin typeface="Calibri"/>
            </a:endParaRP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0F4C81"/>
                </a:solidFill>
                <a:latin typeface="Calibri"/>
              </a:rPr>
              <a:t>M12: </a:t>
            </a:r>
            <a:r>
              <a:rPr sz="1200" b="0">
                <a:solidFill>
                  <a:srgbClr val="1A1A2E"/>
                </a:solidFill>
                <a:latin typeface="Calibri"/>
              </a:rPr>
              <a:t>Year 1 security review; deployment documentation</a:t>
            </a:r>
            <a:endParaRPr sz="1200" b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955279" y="475488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77D"/>
                </a:solidFill>
                <a:latin typeface="Calibri"/>
              </a:rPr>
              <a:t>7 / 10</a:t>
            </a:r>
            <a:endParaRPr sz="1000" b="0">
              <a:solidFill>
                <a:srgbClr val="5C677D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Calibri"/>
              </a:rPr>
              <a:t>8</a:t>
            </a:r>
            <a:endParaRPr sz="17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46304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Roadmap Year 2 (Months 13–24)</a:t>
            </a:r>
            <a:endParaRPr sz="24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3977639" cy="1896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0F4C81"/>
                </a:solidFill>
                <a:latin typeface="Calibri"/>
              </a:rPr>
              <a:t>M13: </a:t>
            </a:r>
            <a:r>
              <a:rPr sz="1200" b="0">
                <a:solidFill>
                  <a:srgbClr val="1A1A2E"/>
                </a:solidFill>
                <a:latin typeface="Calibri"/>
              </a:rPr>
              <a:t>Live hydrology and traffic data adapters</a:t>
            </a:r>
            <a:endParaRPr sz="1200" b="0">
              <a:solidFill>
                <a:srgbClr val="1A1A2E"/>
              </a:solidFill>
              <a:latin typeface="Calibri"/>
            </a:endParaRP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0F4C81"/>
                </a:solidFill>
                <a:latin typeface="Calibri"/>
              </a:rPr>
              <a:t>M14: </a:t>
            </a:r>
            <a:r>
              <a:rPr sz="1200" b="0">
                <a:solidFill>
                  <a:srgbClr val="1A1A2E"/>
                </a:solidFill>
                <a:latin typeface="Calibri"/>
              </a:rPr>
              <a:t>Real-time road closure feed integration</a:t>
            </a:r>
            <a:endParaRPr sz="1200" b="0">
              <a:solidFill>
                <a:srgbClr val="1A1A2E"/>
              </a:solidFill>
              <a:latin typeface="Calibri"/>
            </a:endParaRP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0F4C81"/>
                </a:solidFill>
                <a:latin typeface="Calibri"/>
              </a:rPr>
              <a:t>M15: </a:t>
            </a:r>
            <a:r>
              <a:rPr sz="1200" b="0">
                <a:solidFill>
                  <a:srgbClr val="1A1A2E"/>
                </a:solidFill>
                <a:latin typeface="Calibri"/>
              </a:rPr>
              <a:t>Drone imagery ingestion pipeline for flood extent</a:t>
            </a:r>
            <a:endParaRPr sz="1200" b="0">
              <a:solidFill>
                <a:srgbClr val="1A1A2E"/>
              </a:solidFill>
              <a:latin typeface="Calibri"/>
            </a:endParaRP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0F4C81"/>
                </a:solidFill>
                <a:latin typeface="Calibri"/>
              </a:rPr>
              <a:t>M16: </a:t>
            </a:r>
            <a:r>
              <a:rPr sz="1200" b="0">
                <a:solidFill>
                  <a:srgbClr val="1A1A2E"/>
                </a:solidFill>
                <a:latin typeface="Calibri"/>
              </a:rPr>
              <a:t>Provincial partnerships — Thừa Thiên Huế pilot expansion</a:t>
            </a:r>
            <a:endParaRPr sz="1200" b="0">
              <a:solidFill>
                <a:srgbClr val="1A1A2E"/>
              </a:solidFill>
              <a:latin typeface="Calibri"/>
            </a:endParaRP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0F4C81"/>
                </a:solidFill>
                <a:latin typeface="Calibri"/>
              </a:rPr>
              <a:t>M17: </a:t>
            </a:r>
            <a:r>
              <a:rPr sz="1200" b="0">
                <a:solidFill>
                  <a:srgbClr val="1A1A2E"/>
                </a:solidFill>
                <a:latin typeface="Calibri"/>
              </a:rPr>
              <a:t>Multi-province scenario templates (Quảng Trị, Quảng Nam)</a:t>
            </a:r>
            <a:endParaRPr sz="1200" b="0">
              <a:solidFill>
                <a:srgbClr val="1A1A2E"/>
              </a:solidFill>
              <a:latin typeface="Calibri"/>
            </a:endParaRP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0F4C81"/>
                </a:solidFill>
                <a:latin typeface="Calibri"/>
              </a:rPr>
              <a:t>M18: </a:t>
            </a:r>
            <a:r>
              <a:rPr sz="1200" b="0">
                <a:solidFill>
                  <a:srgbClr val="1A1A2E"/>
                </a:solidFill>
                <a:latin typeface="Calibri"/>
              </a:rPr>
              <a:t>Edge deployment option for offline drill nodes</a:t>
            </a:r>
            <a:endParaRPr sz="1200" b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00599" y="1051560"/>
            <a:ext cx="3977639" cy="1896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0F4C81"/>
                </a:solidFill>
                <a:latin typeface="Calibri"/>
              </a:rPr>
              <a:t>M19: </a:t>
            </a:r>
            <a:r>
              <a:rPr sz="1200" b="0">
                <a:solidFill>
                  <a:srgbClr val="1A1A2E"/>
                </a:solidFill>
                <a:latin typeface="Calibri"/>
              </a:rPr>
              <a:t>Cloud QPU integration (QAOA / D-Wave trials)</a:t>
            </a:r>
            <a:endParaRPr sz="1200" b="0">
              <a:solidFill>
                <a:srgbClr val="1A1A2E"/>
              </a:solidFill>
              <a:latin typeface="Calibri"/>
            </a:endParaRP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0F4C81"/>
                </a:solidFill>
                <a:latin typeface="Calibri"/>
              </a:rPr>
              <a:t>M20: </a:t>
            </a:r>
            <a:r>
              <a:rPr sz="1200" b="0">
                <a:solidFill>
                  <a:srgbClr val="1A1A2E"/>
                </a:solidFill>
                <a:latin typeface="Calibri"/>
              </a:rPr>
              <a:t>Quantum solver A/B testing vs classical baselines</a:t>
            </a:r>
            <a:endParaRPr sz="1200" b="0">
              <a:solidFill>
                <a:srgbClr val="1A1A2E"/>
              </a:solidFill>
              <a:latin typeface="Calibri"/>
            </a:endParaRP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0F4C81"/>
                </a:solidFill>
                <a:latin typeface="Calibri"/>
              </a:rPr>
              <a:t>M21: </a:t>
            </a:r>
            <a:r>
              <a:rPr sz="1200" b="0">
                <a:solidFill>
                  <a:srgbClr val="1A1A2E"/>
                </a:solidFill>
                <a:latin typeface="Calibri"/>
              </a:rPr>
              <a:t>Multi-province operational dashboard</a:t>
            </a:r>
            <a:endParaRPr sz="1200" b="0">
              <a:solidFill>
                <a:srgbClr val="1A1A2E"/>
              </a:solidFill>
              <a:latin typeface="Calibri"/>
            </a:endParaRP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0F4C81"/>
                </a:solidFill>
                <a:latin typeface="Calibri"/>
              </a:rPr>
              <a:t>M22: </a:t>
            </a:r>
            <a:r>
              <a:rPr sz="1200" b="0">
                <a:solidFill>
                  <a:srgbClr val="1A1A2E"/>
                </a:solidFill>
                <a:latin typeface="Calibri"/>
              </a:rPr>
              <a:t>Production deployment; SLA monitoring</a:t>
            </a:r>
            <a:endParaRPr sz="1200" b="0">
              <a:solidFill>
                <a:srgbClr val="1A1A2E"/>
              </a:solidFill>
              <a:latin typeface="Calibri"/>
            </a:endParaRP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0F4C81"/>
                </a:solidFill>
                <a:latin typeface="Calibri"/>
              </a:rPr>
              <a:t>M23: </a:t>
            </a:r>
            <a:r>
              <a:rPr sz="1200" b="0">
                <a:solidFill>
                  <a:srgbClr val="1A1A2E"/>
                </a:solidFill>
                <a:latin typeface="Calibri"/>
              </a:rPr>
              <a:t>Regional scale-out across Central Vietnam provinces</a:t>
            </a:r>
            <a:endParaRPr sz="1200" b="0">
              <a:solidFill>
                <a:srgbClr val="1A1A2E"/>
              </a:solidFill>
              <a:latin typeface="Calibri"/>
            </a:endParaRP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0F4C81"/>
                </a:solidFill>
                <a:latin typeface="Calibri"/>
              </a:rPr>
              <a:t>M24: </a:t>
            </a:r>
            <a:r>
              <a:rPr sz="1200" b="0">
                <a:solidFill>
                  <a:srgbClr val="1A1A2E"/>
                </a:solidFill>
                <a:latin typeface="Calibri"/>
              </a:rPr>
              <a:t>Full product launch; training materials; SOP integration</a:t>
            </a:r>
            <a:endParaRPr sz="1200" b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955279" y="475488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77D"/>
                </a:solidFill>
                <a:latin typeface="Calibri"/>
              </a:rPr>
              <a:t>8 / 10</a:t>
            </a:r>
            <a:endParaRPr sz="1000" b="0">
              <a:solidFill>
                <a:srgbClr val="5C677D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Calibri"/>
              </a:rPr>
              <a:t>9</a:t>
            </a:r>
            <a:endParaRPr sz="17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46304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Expected Impact</a:t>
            </a:r>
            <a:endParaRPr sz="24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52578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2E"/>
                </a:solidFill>
                <a:latin typeface="Calibri"/>
              </a:rPr>
              <a:t>• Supports faster coordinator decision-making under pressure</a:t>
            </a:r>
            <a:endParaRPr sz="1400" b="0">
              <a:solidFill>
                <a:srgbClr val="1A1A2E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2E"/>
                </a:solidFill>
                <a:latin typeface="Calibri"/>
              </a:rPr>
              <a:t>• Helps prioritize high-risk victims in simulation and provincial drill exercises</a:t>
            </a:r>
            <a:endParaRPr sz="1400" b="0">
              <a:solidFill>
                <a:srgbClr val="1A1A2E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2E"/>
                </a:solidFill>
                <a:latin typeface="Calibri"/>
              </a:rPr>
              <a:t>• Can reduce estimated response time in simulation compared with a greedy baseline</a:t>
            </a:r>
            <a:endParaRPr sz="1400" b="0">
              <a:solidFill>
                <a:srgbClr val="1A1A2E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2E"/>
                </a:solidFill>
                <a:latin typeface="Calibri"/>
              </a:rPr>
              <a:t>• Improves plan transparency for multi-agency coordination along the coast</a:t>
            </a:r>
            <a:endParaRPr sz="1400" b="0">
              <a:solidFill>
                <a:srgbClr val="1A1A2E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2E"/>
                </a:solidFill>
                <a:latin typeface="Calibri"/>
              </a:rPr>
              <a:t>• Directly supports UN SDG 3 (Health &amp; Well-being) and SDG 11 (Sustainable Cities)</a:t>
            </a:r>
            <a:endParaRPr sz="1400" b="0">
              <a:solidFill>
                <a:srgbClr val="1A1A2E"/>
              </a:solidFill>
              <a:latin typeface="Calibri"/>
            </a:endParaRPr>
          </a:p>
        </p:txBody>
      </p:sp>
      <p:pic>
        <p:nvPicPr>
          <p:cNvPr id="6" name="Picture 5" descr="sdg3_good_healt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691640"/>
            <a:ext cx="1005840" cy="1005840"/>
          </a:xfrm>
          <a:prstGeom prst="rect">
            <a:avLst/>
          </a:prstGeom>
        </p:spPr>
      </p:pic>
      <p:pic>
        <p:nvPicPr>
          <p:cNvPr id="7" name="Picture 6" descr="sdg11_sustainable_c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691640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63640" y="2770632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5C677D"/>
                </a:solidFill>
                <a:latin typeface="Calibri"/>
              </a:rPr>
              <a:t>Aligned with UN SDGs</a:t>
            </a:r>
            <a:endParaRPr sz="900" b="0">
              <a:solidFill>
                <a:srgbClr val="5C677D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955279" y="475488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77D"/>
                </a:solidFill>
                <a:latin typeface="Calibri"/>
              </a:rPr>
              <a:t>9 / 10</a:t>
            </a:r>
            <a:endParaRPr sz="1000" b="0">
              <a:solidFill>
                <a:srgbClr val="5C677D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Calibri"/>
              </a:rPr>
              <a:t>10</a:t>
            </a:r>
            <a:endParaRPr sz="17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46304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Closing</a:t>
            </a:r>
            <a:endParaRPr sz="24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7955279" cy="1260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2E"/>
                </a:solidFill>
                <a:latin typeface="Calibri"/>
              </a:rPr>
              <a:t>• DRO: AI + quantum decision support for Central Vietnam disaster response</a:t>
            </a:r>
            <a:endParaRPr sz="1400" b="0">
              <a:solidFill>
                <a:srgbClr val="1A1A2E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2E"/>
                </a:solidFill>
                <a:latin typeface="Calibri"/>
              </a:rPr>
              <a:t>• MVP ready: Thừa Thiên Huế flood and landslide response simulation</a:t>
            </a:r>
            <a:endParaRPr sz="1400" b="0">
              <a:solidFill>
                <a:srgbClr val="1A1A2E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2E"/>
                </a:solidFill>
                <a:latin typeface="Calibri"/>
              </a:rPr>
              <a:t>• Next step: university drill pilots and </a:t>
            </a:r>
            <a:r>
              <a:rPr lang="vi-VN" sz="1400" b="0">
                <a:solidFill>
                  <a:srgbClr val="1A1A2E"/>
                </a:solidFill>
                <a:latin typeface="Calibri"/>
              </a:rPr>
              <a:t>local</a:t>
            </a:r>
            <a:r>
              <a:rPr sz="1400" b="0">
                <a:solidFill>
                  <a:srgbClr val="1A1A2E"/>
                </a:solidFill>
                <a:latin typeface="Calibri"/>
              </a:rPr>
              <a:t> partner </a:t>
            </a:r>
            <a:r>
              <a:rPr lang="vi-VN" sz="1400" b="0">
                <a:solidFill>
                  <a:srgbClr val="1A1A2E"/>
                </a:solidFill>
                <a:latin typeface="Calibri"/>
              </a:rPr>
              <a:t>feedback</a:t>
            </a:r>
            <a:r>
              <a:rPr sz="1400" b="0">
                <a:solidFill>
                  <a:srgbClr val="1A1A2E"/>
                </a:solidFill>
                <a:latin typeface="Calibri"/>
              </a:rPr>
              <a:t> in Year 1</a:t>
            </a:r>
            <a:endParaRPr sz="1400" b="0">
              <a:solidFill>
                <a:srgbClr val="1A1A2E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2E"/>
                </a:solidFill>
                <a:latin typeface="Calibri"/>
              </a:rPr>
              <a:t>• Thank you — questions welcome | Huynh Mai Linh Nguyen — SEA Quantathon 2026</a:t>
            </a:r>
            <a:endParaRPr sz="1400" b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955279" y="475488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77D"/>
                </a:solidFill>
                <a:latin typeface="Calibri"/>
              </a:rPr>
              <a:t>10 / 10</a:t>
            </a:r>
            <a:endParaRPr sz="1000" b="0">
              <a:solidFill>
                <a:srgbClr val="5C677D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4951</Words>
  <Application>WPS Presentation</Application>
  <PresentationFormat>On-screen Show (4:3)</PresentationFormat>
  <Paragraphs>135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SimSun</vt:lpstr>
      <vt:lpstr>Wingdings</vt:lpstr>
      <vt:lpstr>Arial</vt:lpstr>
      <vt:lpstr>Calibri</vt:lpstr>
      <vt:lpstr>Helvetica Neue</vt:lpstr>
      <vt:lpstr>微软雅黑</vt:lpstr>
      <vt:lpstr>汉仪旗黑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Huynh Mai Linh Nguyen</dc:creator>
  <dc:description>generated using python-pptx</dc:description>
  <cp:lastModifiedBy>nguyenhuynhmailinh</cp:lastModifiedBy>
  <cp:revision>6</cp:revision>
  <dcterms:created xsi:type="dcterms:W3CDTF">2026-05-30T03:20:09Z</dcterms:created>
  <dcterms:modified xsi:type="dcterms:W3CDTF">2026-05-30T03:20:09Z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1033-3.1.4.5932</vt:lpwstr>
  </property>
</Properties>
</file>